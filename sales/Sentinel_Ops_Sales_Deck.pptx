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</a:rPr>
              <a:t>Sentinel 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9B8A"/>
                </a:solidFill>
              </a:rPr>
              <a:t>Lean Managed Cybersecurity for Malaysian SMEs &amp; Growing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0D0"/>
                </a:solidFill>
              </a:rPr>
              <a:t>Monitoring, Hardening, and Audit-Ready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C0D0"/>
                </a:solidFill>
              </a:rPr>
              <a:t>without building a full SOC.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160520"/>
            <a:ext cx="2743200" cy="50800"/>
          </a:xfrm>
          <a:prstGeom prst="rect">
            <a:avLst/>
          </a:prstGeom>
          <a:solidFill>
            <a:srgbClr val="00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0A0B0"/>
                </a:solidFill>
              </a:rPr>
              <a:t>[Your Name]  |  Founder / Operator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8090"/>
                </a:solidFill>
              </a:rPr>
              <a:t>[email@domain.com]  |  [WhatsApp]  |  [LinkedIn]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D0"/>
                </a:solidFill>
              </a:rPr>
              <a:t>Why growing companies struggle with cybersecurity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50800"/>
          </a:xfrm>
          <a:prstGeom prst="rect">
            <a:avLst/>
          </a:prstGeom>
          <a:solidFill>
            <a:srgbClr val="00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700">
                <a:solidFill>
                  <a:srgbClr val="1A1A2E"/>
                </a:solidFill>
              </a:rPr>
              <a:t>• Security tools generate noise, not clarity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1A1A2E"/>
                </a:solidFill>
              </a:rPr>
              <a:t>• Small IT teams don't have time to triage alerts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1A1A2E"/>
                </a:solidFill>
              </a:rPr>
              <a:t>• Hardening and patching hygiene is inconsistent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1A1A2E"/>
                </a:solidFill>
              </a:rPr>
              <a:t>• Compliance pressure is rising: PDPA, customer questionnaires, audit expectations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1A1A2E"/>
                </a:solidFill>
              </a:rPr>
              <a:t>• Hiring a full SOC team is expensive and unrealistic for many SMEs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778240" y="1371600"/>
            <a:ext cx="3017520" cy="2286000"/>
          </a:xfrm>
          <a:prstGeom prst="rect">
            <a:avLst/>
          </a:prstGeom>
          <a:solidFill>
            <a:srgbClr val="E8F4F2"/>
          </a:solidFill>
          <a:ln w="19050">
            <a:solidFill>
              <a:srgbClr val="009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0D2B45"/>
                </a:solidFill>
              </a:rPr>
              <a:t>Most companies know they need better security operations — but not a heavyweight security program.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Sentinel Ops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D0"/>
                </a:solidFill>
              </a:rPr>
              <a:t>The lean managed security layer for critical systems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50800"/>
          </a:xfrm>
          <a:prstGeom prst="rect">
            <a:avLst/>
          </a:prstGeom>
          <a:solidFill>
            <a:srgbClr val="00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772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700">
                <a:solidFill>
                  <a:srgbClr val="1A1A2E"/>
                </a:solidFill>
              </a:rPr>
              <a:t>• Managed monitoring for Linux / cloud environments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1A1A2E"/>
                </a:solidFill>
              </a:rPr>
              <a:t>• Alert triage — reduce noise, surface real issues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1A1A2E"/>
                </a:solidFill>
              </a:rPr>
              <a:t>• Baseline hardening using practical CIS-aligned controls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1A1A2E"/>
                </a:solidFill>
              </a:rPr>
              <a:t>• Monthly management-ready reporting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1A1A2E"/>
                </a:solidFill>
              </a:rPr>
              <a:t>• Limited-scope pilots designed to prove value fast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29200"/>
            <a:ext cx="10881360" cy="1005840"/>
          </a:xfrm>
          <a:prstGeom prst="rect">
            <a:avLst/>
          </a:prstGeom>
          <a:solidFill>
            <a:srgbClr val="E8F4F2"/>
          </a:solidFill>
          <a:ln w="19050">
            <a:solidFill>
              <a:srgbClr val="009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D2B45"/>
                </a:solidFill>
              </a:rPr>
              <a:t>Enterprise-style security visibility and hardening — without hiring a SOC.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Who It's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D0"/>
                </a:solidFill>
              </a:rPr>
              <a:t>Ideal customer profile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50800"/>
          </a:xfrm>
          <a:prstGeom prst="rect">
            <a:avLst/>
          </a:prstGeom>
          <a:solidFill>
            <a:srgbClr val="00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9B8A"/>
                </a:solidFill>
              </a:rPr>
              <a:t>✓  Best 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Malaysian SMEs and mid-sized companies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SaaS, logistics-tech, healthtech, fintech-adjacent businesses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Teams with Linux/cloud workloads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Companies facing enterprise security questionnaires or PDPA compliance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Businesses with lean IT teams and no internal SOC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03030"/>
                </a:solidFill>
              </a:rPr>
              <a:t>✗  Not ideal initially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>
                <a:solidFill>
                  <a:srgbClr val="5A5A7A"/>
                </a:solidFill>
              </a:rPr>
              <a:t>• Very large enterprises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5A5A7A"/>
                </a:solidFill>
              </a:rPr>
              <a:t>• Banks needing full formal SOC coverage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5A5A7A"/>
                </a:solidFill>
              </a:rPr>
              <a:t>• Clients expecting broad custom consulting from day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035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A5A7A"/>
                </a:solidFill>
              </a:rPr>
              <a:t>We are intentionally focused. Early on, we win where security pressure is real but internal security operations are still lean.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How It Works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D0"/>
                </a:solidFill>
              </a:rPr>
              <a:t>Four steps to operational security clarity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50800"/>
          </a:xfrm>
          <a:prstGeom prst="rect">
            <a:avLst/>
          </a:prstGeom>
          <a:solidFill>
            <a:srgbClr val="00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5236" y="1828800"/>
            <a:ext cx="2468880" cy="292608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Onboard</a:t>
            </a:r>
          </a:p>
          <a:p>
            <a:pPr algn="ctr"/>
            <a:r>
              <a:rPr sz="1100">
                <a:solidFill>
                  <a:srgbClr val="D0E8F0"/>
                </a:solidFill>
              </a:rPr>
              <a:t>Deploy monitoring on a small, agreed scope of critical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8436" y="1828800"/>
            <a:ext cx="2468880" cy="2926080"/>
          </a:xfrm>
          <a:prstGeom prst="rect">
            <a:avLst/>
          </a:prstGeom>
          <a:solidFill>
            <a:srgbClr val="00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2. Detect</a:t>
            </a:r>
          </a:p>
          <a:p>
            <a:pPr algn="ctr"/>
            <a:r>
              <a:rPr sz="1100">
                <a:solidFill>
                  <a:srgbClr val="D0E8F0"/>
                </a:solidFill>
              </a:rPr>
              <a:t>Filter noisy alerts and identify meaningful issues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1636" y="1828800"/>
            <a:ext cx="2468880" cy="2926080"/>
          </a:xfrm>
          <a:prstGeom prst="rect">
            <a:avLst/>
          </a:prstGeom>
          <a:solidFill>
            <a:srgbClr val="1A6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Harden</a:t>
            </a:r>
          </a:p>
          <a:p>
            <a:pPr algn="ctr"/>
            <a:r>
              <a:rPr sz="1100">
                <a:solidFill>
                  <a:srgbClr val="D0E8F0"/>
                </a:solidFill>
              </a:rPr>
              <a:t>Apply practical security improvements on approved systems</a:t>
            </a:r>
          </a:p>
        </p:txBody>
      </p:sp>
      <p:sp>
        <p:nvSpPr>
          <p:cNvPr id="9" name="Rectangle 8"/>
          <p:cNvSpPr/>
          <p:nvPr/>
        </p:nvSpPr>
        <p:spPr>
          <a:xfrm>
            <a:off x="8974836" y="1828800"/>
            <a:ext cx="2468880" cy="2926080"/>
          </a:xfrm>
          <a:prstGeom prst="rect">
            <a:avLst/>
          </a:prstGeom>
          <a:solidFill>
            <a:srgbClr val="0A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 Report</a:t>
            </a:r>
          </a:p>
          <a:p>
            <a:pPr algn="ctr"/>
            <a:r>
              <a:rPr sz="1100">
                <a:solidFill>
                  <a:srgbClr val="D0E8F0"/>
                </a:solidFill>
              </a:rPr>
              <a:t>Deliver clear findings, risks, and recommended next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035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B8A"/>
                </a:solidFill>
              </a:rPr>
              <a:t>Small scope. Clear signal. Practical improvements. Useful reporting.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We've Already Proven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D0"/>
                </a:solidFill>
              </a:rPr>
              <a:t>MVP Demo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50800"/>
          </a:xfrm>
          <a:prstGeom prst="rect">
            <a:avLst/>
          </a:prstGeom>
          <a:solidFill>
            <a:srgbClr val="00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796" y="14630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09B8A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" y="24231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A5A7A"/>
                </a:solidFill>
              </a:rPr>
              <a:t>Active agents enrolled
and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8436" y="14630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09B8A"/>
                </a:solidFill>
              </a:rPr>
              <a:t>1,243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436" y="24231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A5A7A"/>
                </a:solidFill>
              </a:rPr>
              <a:t>Security events captured
in 24-hr window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4630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09B8A"/>
                </a:solidFill>
              </a:rPr>
              <a:t>373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3076" y="24231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A5A7A"/>
                </a:solidFill>
              </a:rPr>
              <a:t>CIS benchmark checks
run across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57716" y="14630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09B8A"/>
                </a:solidFill>
              </a:rPr>
              <a:t>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7716" y="24231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A5A7A"/>
                </a:solidFill>
              </a:rPr>
              <a:t>Medium risk score
post-hardening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45"/>
                </a:solidFill>
              </a:rPr>
              <a:t>Key findings from demo environment: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57600"/>
            <a:ext cx="10881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1A1A2E"/>
                </a:solidFill>
              </a:rPr>
              <a:t>• SSH brute-force attempts detected and alerted within minutes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A1A2E"/>
                </a:solidFill>
              </a:rPr>
              <a:t>• PAM authentication failures flagged by rule 5503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A1A2E"/>
                </a:solidFill>
              </a:rPr>
              <a:t>• Rancher agent service failures captured automatically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A1A2E"/>
                </a:solidFill>
              </a:rPr>
              <a:t>• 373 CIS benchmark failures identified; 14 remediated post-hardening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A1A2E"/>
                </a:solidFill>
              </a:rPr>
              <a:t>• Before/after SCA comparison shows measurable improvement in security posture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30-Day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D0"/>
                </a:solidFill>
              </a:rPr>
              <a:t>Proven process, limited scope, fast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50800"/>
          </a:xfrm>
          <a:prstGeom prst="rect">
            <a:avLst/>
          </a:prstGeom>
          <a:solidFill>
            <a:srgbClr val="00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45"/>
                </a:solidFill>
              </a:rPr>
              <a:t>What you 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Baseline security scan on agreed scope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Wazuh agent deployment + enrollment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CIS-aligned hardening on approved systems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24/7 managed monitoring + alert triage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Weekly findings summary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End-of-pilot management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45"/>
                </a:solidFill>
              </a:rPr>
              <a:t>Pilot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Week 1: Deploy monitoring, establish baseline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Week 2: Apply hardening on agreed systems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Weeks 3–4: Monitor, triage, report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Day 30: Review call + conversion options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RM 2,000 one-time pilot fee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1A1A2E"/>
                </a:solidFill>
              </a:rPr>
              <a:t>• No long-term commitment required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solidFill>
            <a:srgbClr val="E8F4F2"/>
          </a:solidFill>
          <a:ln w="19050">
            <a:solidFill>
              <a:srgbClr val="009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0D2B45"/>
                </a:solidFill>
              </a:rPr>
              <a:t>RM 2,000 | 30 days | No ongoing commitment | Management report included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After the Pilot — Conversion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D0"/>
                </a:solidFill>
              </a:rPr>
              <a:t>Three options based on where you 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88952" cy="50800"/>
          </a:xfrm>
          <a:prstGeom prst="rect">
            <a:avLst/>
          </a:prstGeom>
          <a:solidFill>
            <a:srgbClr val="00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6676" y="1371600"/>
            <a:ext cx="3200400" cy="4114800"/>
          </a:xfrm>
          <a:prstGeom prst="rect">
            <a:avLst/>
          </a:prstGeom>
          <a:solidFill>
            <a:srgbClr val="5A5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Watcher
RM 1,500 / month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</a:rPr>
              <a:t>✓ Managed monitoring only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</a:rPr>
              <a:t>✓ Alert triage + weekly digest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</a:rPr>
              <a:t>✓ Monthly report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</a:rPr>
              <a:t>✓ Up to 5 agents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494276" y="1371600"/>
            <a:ext cx="3200400" cy="4114800"/>
          </a:xfrm>
          <a:prstGeom prst="rect">
            <a:avLst/>
          </a:prstGeom>
          <a:solidFill>
            <a:srgbClr val="00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Guardian
RM 3,000 / month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D0F0EC"/>
                </a:solidFill>
              </a:rPr>
              <a:t>✓ Everything in Watcher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D0F0EC"/>
                </a:solidFill>
              </a:rPr>
              <a:t>✓ Proactive hardening (monthly)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D0F0EC"/>
                </a:solidFill>
              </a:rPr>
              <a:t>✓ Quarterly SCA scan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D0F0EC"/>
                </a:solidFill>
              </a:rPr>
              <a:t>✓ Up to 15 agents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D0F0EC"/>
                </a:solidFill>
              </a:rPr>
              <a:t>✓ Monthly sync call</a:t>
            </a:r>
          </a:p>
        </p:txBody>
      </p:sp>
      <p:sp>
        <p:nvSpPr>
          <p:cNvPr id="8" name="Rectangle 7"/>
          <p:cNvSpPr/>
          <p:nvPr/>
        </p:nvSpPr>
        <p:spPr>
          <a:xfrm>
            <a:off x="8151876" y="1371600"/>
            <a:ext cx="3200400" cy="41148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Fortress
Custom pricing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</a:rPr>
              <a:t>✓ Everything in Guardian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</a:rPr>
              <a:t>✓ Continuous hardening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</a:rPr>
              <a:t>✓ Weekly SCA scans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</a:rPr>
              <a:t>✓ Unlimited agents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</a:rPr>
              <a:t>✓ Dedicated analyst (PT)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</a:rPr>
              <a:t>✓ Incident response SLA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A5A7A"/>
                </a:solidFill>
              </a:rPr>
              <a:t>* All tiers include PDPA-aligned reporting. Custom scopes available on request.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Let's find out if we're a fit.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0C0D0"/>
                </a:solidFill>
              </a:rPr>
              <a:t>The first step is a 20-minute discovery call — no pitch, no pressure.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108960"/>
            <a:ext cx="2743200" cy="50800"/>
          </a:xfrm>
          <a:prstGeom prst="rect">
            <a:avLst/>
          </a:prstGeom>
          <a:solidFill>
            <a:srgbClr val="00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[Your Name]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D0"/>
                </a:solidFill>
              </a:rPr>
              <a:t>Founder / Operator, Sentinel 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📧  [email@domain.com]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💬  [WhatsApp number]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💼  [LinkedIn profile URL]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8090"/>
                </a:solidFill>
              </a:rPr>
              <a:t>sentinelops.my  |  demo: seeln.site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