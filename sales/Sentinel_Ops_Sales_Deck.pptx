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FFFFFF"/>
                </a:solidFill>
              </a:rPr>
              <a:t>Sentinel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22C55E"/>
                </a:solidFill>
              </a:rPr>
              <a:t>Lean Managed Cybersecurity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CBD5E1"/>
                </a:solidFill>
              </a:rPr>
              <a:t>for Malaysian SMEs &amp; Growing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3657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</a:rPr>
              <a:t>Monitoring  •  Hardening  •  Audit-Ready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</a:rPr>
              <a:t>without building a full SOC.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[Your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Founder / Operator  •  Sentinel 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8090"/>
                </a:solidFill>
              </a:rPr>
              <a:t>[email@]   [WhatsApp]   [LinkedIn]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Why growing companies struggle with cybersecurity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Noise, not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Security tools generate alerts that never get triaged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IT teams spend time on noise instead of real issues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Inconsistent hygiene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73736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Hardening and patching falls off the priority list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Systems drift from secure baseline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Compliance pressure rising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73736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PDPA requires demonstrable controls on personal data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Enterprise clients increasingly ask about security posture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Audit expectations are getting stricter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SOC is too expensive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73736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Full Security Operations Center is a RM 10k–30k/month commitment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Most SMEs don't have the headcount or budget for it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8FAFC"/>
                </a:solidFill>
              </a:rPr>
              <a:t>• Hiring is slow and talent is scarce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solidFill>
            <a:srgbClr val="141E2E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30368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Most companies know they need better security operations — but not a heavyweight security program.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What Sentinel Ops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The lean managed security layer for critical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1945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Managed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3716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</a:rPr>
              <a:t>Linux / cloud environments monitored 24/7. Real alerts, not noise.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67712"/>
            <a:ext cx="21945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Alert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3134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</a:rPr>
              <a:t>We filter the noise, prioritize real issues, and surface what matters.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09544"/>
            <a:ext cx="21945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Baseline Hardening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25526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</a:rPr>
              <a:t>Practical CIS-aligned controls applied on approved systems.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51376"/>
            <a:ext cx="21945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Monthly 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197096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</a:rPr>
              <a:t>Management-ready output — findings, risk trends, recommended next steps.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93208"/>
            <a:ext cx="21945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 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13892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</a:rPr>
              <a:t>30-day limited-scope pilot designed to prove value without overcommitment.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solidFill>
            <a:srgbClr val="0D281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10819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Enterprise-style security visibility and hardening — without hiring a SOC.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Who It's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Ideal customer profile — intentionally focused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94960" cy="4572000"/>
          </a:xfrm>
          <a:prstGeom prst="rect">
            <a:avLst/>
          </a:prstGeom>
          <a:solidFill>
            <a:srgbClr val="141E2E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✓  Best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Malaysian SMEs and mid-sized companies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SaaS, logistics-tech, healthtech, fintech-adjacent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Linux / cloud workloads (AWS, Azure, on-prem)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Enterprise security questionnaires or PDPA compliance pressure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Lean IT teams — no internal SOC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Seeking practical security improvement, not compliance theatre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394960" cy="4572000"/>
          </a:xfrm>
          <a:prstGeom prst="rect">
            <a:avLst/>
          </a:prstGeom>
          <a:solidFill>
            <a:srgbClr val="141E2E"/>
          </a:solidFill>
          <a:ln w="2540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C8181"/>
                </a:solidFill>
              </a:rPr>
              <a:t>✗  Not ideal initially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74519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CBD5E1"/>
                </a:solidFill>
              </a:rPr>
              <a:t>• Very large enterprises needing broad coverage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CBD5E1"/>
                </a:solidFill>
              </a:rPr>
              <a:t>• Banks or regulated financial institutions requiring formal SOC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CBD5E1"/>
                </a:solidFill>
              </a:rPr>
              <a:t>• Clients expecting extensive custom consulting from day one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CBD5E1"/>
                </a:solidFill>
              </a:rPr>
              <a:t>• Environments with no existing IT infrastructure to harden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807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BD5E1"/>
                </a:solidFill>
              </a:rPr>
              <a:t>We win where security pressure is real but internal security operations are still lean.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How It Works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Four steps to operational security clarity — small scope, clear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" y="1463040"/>
            <a:ext cx="2468880" cy="502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2057400"/>
            <a:ext cx="2468880" cy="3840480"/>
          </a:xfrm>
          <a:prstGeom prst="rect">
            <a:avLst/>
          </a:prstGeom>
          <a:solidFill>
            <a:srgbClr val="141E2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2C55E"/>
                </a:solidFill>
              </a:rPr>
              <a:t>Onboard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743200"/>
            <a:ext cx="219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AFC"/>
                </a:solidFill>
              </a:rPr>
              <a:t>Deploy monitoring on a small, agreed scope of critical systems. Define what's in scope and what's not.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5576" y="1463040"/>
            <a:ext cx="2468880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5576" y="2057400"/>
            <a:ext cx="2468880" cy="3840480"/>
          </a:xfrm>
          <a:prstGeom prst="rect">
            <a:avLst/>
          </a:prstGeom>
          <a:solidFill>
            <a:srgbClr val="14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8BDF8"/>
                </a:solidFill>
              </a:rPr>
              <a:t>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743200"/>
            <a:ext cx="219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AFC"/>
                </a:solidFill>
              </a:rPr>
              <a:t>Filter noisy alerts, prioritize meaningful issues. Real threats surface — noise is triage by 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463040"/>
            <a:ext cx="2468880" cy="502920"/>
          </a:xfrm>
          <a:prstGeom prst="rect">
            <a:avLst/>
          </a:prstGeom>
          <a:solidFill>
            <a:srgbClr val="00B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2057400"/>
            <a:ext cx="2468880" cy="3840480"/>
          </a:xfrm>
          <a:prstGeom prst="rect">
            <a:avLst/>
          </a:prstGeom>
          <a:solidFill>
            <a:srgbClr val="141E2E"/>
          </a:solidFill>
          <a:ln w="19050">
            <a:solidFill>
              <a:srgbClr val="00B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88A"/>
                </a:solidFill>
              </a:rPr>
              <a:t>Harden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743200"/>
            <a:ext cx="219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AFC"/>
                </a:solidFill>
              </a:rPr>
              <a:t>Apply practical security improvements on approved systems. CIS-aligned controls, not theoretical hardening.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1463040"/>
            <a:ext cx="2468880" cy="502920"/>
          </a:xfrm>
          <a:prstGeom prst="rect">
            <a:avLst/>
          </a:prstGeom>
          <a:solidFill>
            <a:srgbClr val="A78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43416" y="2057400"/>
            <a:ext cx="2468880" cy="3840480"/>
          </a:xfrm>
          <a:prstGeom prst="rect">
            <a:avLst/>
          </a:prstGeom>
          <a:solidFill>
            <a:srgbClr val="141E2E"/>
          </a:solidFill>
          <a:ln w="19050">
            <a:solidFill>
              <a:srgbClr val="A78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78AF5"/>
                </a:solidFill>
              </a:rPr>
              <a:t>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743200"/>
            <a:ext cx="219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AFC"/>
                </a:solidFill>
              </a:rPr>
              <a:t>Clear findings, risk trends, recommended next actions. Management-ready output every 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What We've Already Proven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Wazuh-based MVP demo — real findings, real hardening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463040"/>
            <a:ext cx="2468880" cy="9144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25146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BD5E1"/>
                </a:solidFill>
              </a:rPr>
              <a:t>Active agents
enrolled &amp; monitoring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419856" y="1463040"/>
            <a:ext cx="2468880" cy="914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1,243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25146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BD5E1"/>
                </a:solidFill>
              </a:rPr>
              <a:t>Security events
captured in 24h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463040"/>
            <a:ext cx="2468880" cy="914400"/>
          </a:xfrm>
          <a:prstGeom prst="rect">
            <a:avLst/>
          </a:prstGeom>
          <a:solidFill>
            <a:srgbClr val="00B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373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25146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BD5E1"/>
                </a:solidFill>
              </a:rPr>
              <a:t>CIS benchmark
checks executed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0576" y="1463040"/>
            <a:ext cx="2468880" cy="914400"/>
          </a:xfrm>
          <a:prstGeom prst="rect">
            <a:avLst/>
          </a:prstGeom>
          <a:solidFill>
            <a:srgbClr val="A78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576" y="25146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BD5E1"/>
                </a:solidFill>
              </a:rPr>
              <a:t>Risk score
post-hardening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11064240" cy="38100"/>
          </a:xfrm>
          <a:prstGeom prst="rect">
            <a:avLst/>
          </a:prstGeom>
          <a:solidFill>
            <a:srgbClr val="2A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Key findings from demo environment: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8FAFC"/>
                </a:solidFill>
              </a:rPr>
              <a:t>• SSH brute-force attempts detected and alerted within minutes (rule 5710, level 5)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8FAFC"/>
                </a:solidFill>
              </a:rPr>
              <a:t>• PAM authentication failures flagged — rule 5503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8FAFC"/>
                </a:solidFill>
              </a:rPr>
              <a:t>• Docker DNS resolution failures captured automatically by SCA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8FAFC"/>
                </a:solidFill>
              </a:rPr>
              <a:t>• Rancher agent service failures detected without manual intervention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8FAFC"/>
                </a:solidFill>
              </a:rPr>
              <a:t>• 373 CIS benchmark failures identified; 14 remediated post-hardening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8FAFC"/>
                </a:solidFill>
              </a:rPr>
              <a:t>• Before/after SCA comparison shows measurable improvement in security posture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80760"/>
            <a:ext cx="11064240" cy="594360"/>
          </a:xfrm>
          <a:prstGeom prst="rect">
            <a:avLst/>
          </a:prstGeom>
          <a:solidFill>
            <a:srgbClr val="0D281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Result: Ready for first customer pilot. We've already built and tested the full service 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Start with a 30-Day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Narrow scope, fast results, no long-term commitment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</a:rPr>
              <a:t>Pilot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3 to 10 critical Linux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Monitoring deployment (Wazuh agents)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Baseline findings report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Practical hardening improvements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Final management-ready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E2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Pilot 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Clear visibility into what's happening on your systems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Prioritized issues — know what matters most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Security hygiene improvements applied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8FAFC"/>
                </a:solidFill>
              </a:rPr>
              <a:t>• Decision point: continue, expand, or stop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760720"/>
            <a:ext cx="11064240" cy="914400"/>
          </a:xfrm>
          <a:prstGeom prst="rect">
            <a:avLst/>
          </a:prstGeom>
          <a:solidFill>
            <a:srgbClr val="141E2E"/>
          </a:solidFill>
          <a:ln w="25400">
            <a:solidFill>
              <a:srgbClr val="00B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88A"/>
                </a:solidFill>
              </a:rPr>
              <a:t>Pilot pricing: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585216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RM 2,000 – RM 5,000  (depending on scope and number of servers)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BD5E1"/>
                </a:solidFill>
              </a:rPr>
              <a:t>We keep the first engagement narrow on purpose — prove value fast, no transformation project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</a:rPr>
              <a:t>Continuation After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Start narrow, prove value, expand based on real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5236" y="1371600"/>
            <a:ext cx="3291840" cy="4754880"/>
          </a:xfrm>
          <a:prstGeom prst="rect">
            <a:avLst/>
          </a:prstGeom>
          <a:solidFill>
            <a:srgbClr val="141E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0996" y="1508760"/>
            <a:ext cx="256032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" y="2011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RM 1,500–2,500 /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" y="246888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Smaller environments and limited scope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Managed monitoring (up to 5 agents)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Alert triage + weekly digest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Monthly management report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Email support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8556" y="1371600"/>
            <a:ext cx="3291840" cy="4754880"/>
          </a:xfrm>
          <a:prstGeom prst="rect">
            <a:avLst/>
          </a:prstGeom>
          <a:solidFill>
            <a:srgbClr val="141E2E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14316" y="1508760"/>
            <a:ext cx="2560320" cy="4114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716" y="2011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RM 3,000–5,000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436" y="246888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Best fit for most production teams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Managed monitoring (up to 15 agents)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Proactive hardening (monthly)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Quarterly SCA scan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Monthly sync call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Priority email/chat support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1876" y="1371600"/>
            <a:ext cx="3291840" cy="4754880"/>
          </a:xfrm>
          <a:prstGeom prst="rect">
            <a:avLst/>
          </a:prstGeom>
          <a:solidFill>
            <a:srgbClr val="141E2E"/>
          </a:solidFill>
          <a:ln w="12700">
            <a:solidFill>
              <a:srgbClr val="A78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17636" y="1508760"/>
            <a:ext cx="2560320" cy="411480"/>
          </a:xfrm>
          <a:prstGeom prst="rect">
            <a:avLst/>
          </a:prstGeom>
          <a:solidFill>
            <a:srgbClr val="A78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REGULATED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9036" y="2011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Custom 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4756" y="246888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Stronger reporting and compliance scope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Everything in Growth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Weekly SCA scans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Unlimited agents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Dedicated part-time analyst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8FAFC"/>
                </a:solidFill>
              </a:rPr>
              <a:t>• Incident response SLA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BD5E1"/>
                </a:solidFill>
              </a:rPr>
              <a:t>* All tiers include PDPA-aligned reporting. Custom scopes available on request.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Let's find out if we're a fit.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</a:rPr>
              <a:t>The first step is a 20-minute discovery call — no pitch, no pressure.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971800"/>
            <a:ext cx="36576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" y="3246120"/>
            <a:ext cx="2468880" cy="1737360"/>
          </a:xfrm>
          <a:prstGeom prst="rect">
            <a:avLst/>
          </a:prstGeom>
          <a:solidFill>
            <a:srgbClr val="141E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Environment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3749039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AFC"/>
                </a:solidFill>
              </a:rPr>
              <a:t>Assess your Linux/cloud workload scope and complexity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65576" y="3246120"/>
            <a:ext cx="2468880" cy="1737360"/>
          </a:xfrm>
          <a:prstGeom prst="rect">
            <a:avLst/>
          </a:prstGeom>
          <a:solidFill>
            <a:srgbClr val="141E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Critical 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3749039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AFC"/>
                </a:solidFill>
              </a:rPr>
              <a:t>Identify which servers and services matter most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3246120"/>
            <a:ext cx="2468880" cy="1737360"/>
          </a:xfrm>
          <a:prstGeom prst="rect">
            <a:avLst/>
          </a:prstGeom>
          <a:solidFill>
            <a:srgbClr val="141E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Visibility gaps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3749039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AFC"/>
                </a:solidFill>
              </a:rPr>
              <a:t>Map where security blind spots exist 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43416" y="3246120"/>
            <a:ext cx="2468880" cy="1737360"/>
          </a:xfrm>
          <a:prstGeom prst="rect">
            <a:avLst/>
          </a:prstGeom>
          <a:solidFill>
            <a:srgbClr val="141E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Pilot suitability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3749039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AFC"/>
                </a:solidFill>
              </a:rPr>
              <a:t>Confirm if the 30-day pilot is the right first step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166360"/>
            <a:ext cx="11064240" cy="38100"/>
          </a:xfrm>
          <a:prstGeom prst="rect">
            <a:avLst/>
          </a:prstGeom>
          <a:solidFill>
            <a:srgbClr val="2A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If the fit is right, Sentinel Ops can start with a limited 30-day pilot.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[Your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</a:rPr>
              <a:t>[email@domain.com]   |   [WhatsApp]   |   [LinkedIn]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